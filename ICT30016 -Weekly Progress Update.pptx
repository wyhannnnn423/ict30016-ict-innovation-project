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7" r:id="rId4"/>
  </p:sldMasterIdLst>
  <p:notesMasterIdLst>
    <p:notesMasterId r:id="rId9"/>
  </p:notesMasterIdLst>
  <p:handoutMasterIdLst>
    <p:handoutMasterId r:id="rId10"/>
  </p:handoutMasterIdLst>
  <p:sldIdLst>
    <p:sldId id="1084" r:id="rId5"/>
    <p:sldId id="1085" r:id="rId6"/>
    <p:sldId id="1086" r:id="rId7"/>
    <p:sldId id="259" r:id="rId8"/>
  </p:sldIdLst>
  <p:sldSz cx="12192000" cy="6858000"/>
  <p:notesSz cx="6858000" cy="9144000"/>
  <p:embeddedFontLst>
    <p:embeddedFont>
      <p:font typeface="Barlow Light" panose="00000400000000000000" pitchFamily="2" charset="0"/>
      <p:regular r:id="rId11"/>
      <p:italic r:id="rId12"/>
    </p:embeddedFont>
    <p:embeddedFont>
      <p:font typeface="Barlow SemiBold" panose="00000700000000000000" pitchFamily="2" charset="0"/>
      <p:regular r:id="rId13"/>
      <p:bold r:id="rId14"/>
      <p:italic r:id="rId15"/>
      <p:boldItalic r:id="rId16"/>
    </p:embeddedFont>
    <p:embeddedFont>
      <p:font typeface="Ebrima" panose="02000000000000000000" pitchFamily="2" charset="0"/>
      <p:regular r:id="rId17"/>
      <p:bold r:id="rId18"/>
    </p:embeddedFont>
    <p:embeddedFont>
      <p:font typeface="Open Sans Light" panose="020B0306030504020204" pitchFamily="34" charset="0"/>
      <p:regular r:id="rId19"/>
      <p:italic r:id="rId20"/>
    </p:embeddedFont>
    <p:embeddedFont>
      <p:font typeface="Open Sans Semibold" panose="020B070603080402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6464"/>
    <a:srgbClr val="FF66CC"/>
    <a:srgbClr val="A5A5A5"/>
    <a:srgbClr val="3D3A3B"/>
    <a:srgbClr val="E7E7E8"/>
    <a:srgbClr val="00CB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11.fntdata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ce Gee Yick WONG" userId="S::104401843@students.swinburne.edu.my::75438abd-48f5-44a7-b387-929f9af6bca5" providerId="AD" clId="Web-{02FEC2E1-A8C8-4062-712C-317AB8B1F82E}"/>
    <pc:docChg chg="modSld">
      <pc:chgData name="Bruce Gee Yick WONG" userId="S::104401843@students.swinburne.edu.my::75438abd-48f5-44a7-b387-929f9af6bca5" providerId="AD" clId="Web-{02FEC2E1-A8C8-4062-712C-317AB8B1F82E}" dt="2026-09-08T12:37:31.672" v="18" actId="20577"/>
      <pc:docMkLst>
        <pc:docMk/>
      </pc:docMkLst>
      <pc:sldChg chg="modSp">
        <pc:chgData name="Bruce Gee Yick WONG" userId="S::104401843@students.swinburne.edu.my::75438abd-48f5-44a7-b387-929f9af6bca5" providerId="AD" clId="Web-{02FEC2E1-A8C8-4062-712C-317AB8B1F82E}" dt="2026-09-08T12:37:31.672" v="18" actId="20577"/>
        <pc:sldMkLst>
          <pc:docMk/>
          <pc:sldMk cId="3869781376" sldId="1084"/>
        </pc:sldMkLst>
        <pc:spChg chg="mod">
          <ac:chgData name="Bruce Gee Yick WONG" userId="S::104401843@students.swinburne.edu.my::75438abd-48f5-44a7-b387-929f9af6bca5" providerId="AD" clId="Web-{02FEC2E1-A8C8-4062-712C-317AB8B1F82E}" dt="2026-09-08T12:37:31.672" v="18" actId="20577"/>
          <ac:spMkLst>
            <pc:docMk/>
            <pc:sldMk cId="3869781376" sldId="1084"/>
            <ac:spMk id="10" creationId="{CE32FE8C-D022-8A30-1403-15B3600881B6}"/>
          </ac:spMkLst>
        </pc:spChg>
      </pc:sldChg>
    </pc:docChg>
  </pc:docChgLst>
  <pc:docChgLst>
    <pc:chgData name="Jane Yan Zhen YU" userId="1b7a48f5-3995-4c8d-961e-fa35948adeab" providerId="ADAL" clId="{CDF1851B-486B-40D5-A909-0A3CDE315CBF}"/>
    <pc:docChg chg="undo custSel modSld">
      <pc:chgData name="Jane Yan Zhen YU" userId="1b7a48f5-3995-4c8d-961e-fa35948adeab" providerId="ADAL" clId="{CDF1851B-486B-40D5-A909-0A3CDE315CBF}" dt="2026-09-13T06:32:32.343" v="163" actId="255"/>
      <pc:docMkLst>
        <pc:docMk/>
      </pc:docMkLst>
      <pc:sldChg chg="modSp mod">
        <pc:chgData name="Jane Yan Zhen YU" userId="1b7a48f5-3995-4c8d-961e-fa35948adeab" providerId="ADAL" clId="{CDF1851B-486B-40D5-A909-0A3CDE315CBF}" dt="2026-09-13T06:32:32.343" v="163" actId="255"/>
        <pc:sldMkLst>
          <pc:docMk/>
          <pc:sldMk cId="51606423" sldId="259"/>
        </pc:sldMkLst>
        <pc:spChg chg="mod">
          <ac:chgData name="Jane Yan Zhen YU" userId="1b7a48f5-3995-4c8d-961e-fa35948adeab" providerId="ADAL" clId="{CDF1851B-486B-40D5-A909-0A3CDE315CBF}" dt="2026-09-13T06:32:32.343" v="163" actId="255"/>
          <ac:spMkLst>
            <pc:docMk/>
            <pc:sldMk cId="51606423" sldId="259"/>
            <ac:spMk id="2" creationId="{17514F05-83B5-1F16-91DC-54D25F9D623C}"/>
          </ac:spMkLst>
        </pc:spChg>
        <pc:spChg chg="mod">
          <ac:chgData name="Jane Yan Zhen YU" userId="1b7a48f5-3995-4c8d-961e-fa35948adeab" providerId="ADAL" clId="{CDF1851B-486B-40D5-A909-0A3CDE315CBF}" dt="2026-09-13T06:31:16.329" v="112" actId="1076"/>
          <ac:spMkLst>
            <pc:docMk/>
            <pc:sldMk cId="51606423" sldId="259"/>
            <ac:spMk id="3" creationId="{E1AB57A4-FBEB-6DA0-25D8-6AD5E6F5E14F}"/>
          </ac:spMkLst>
        </pc:spChg>
      </pc:sldChg>
      <pc:sldChg chg="modSp mod">
        <pc:chgData name="Jane Yan Zhen YU" userId="1b7a48f5-3995-4c8d-961e-fa35948adeab" providerId="ADAL" clId="{CDF1851B-486B-40D5-A909-0A3CDE315CBF}" dt="2026-09-09T03:47:41.975" v="106" actId="20577"/>
        <pc:sldMkLst>
          <pc:docMk/>
          <pc:sldMk cId="3026245705" sldId="1085"/>
        </pc:sldMkLst>
        <pc:graphicFrameChg chg="modGraphic">
          <ac:chgData name="Jane Yan Zhen YU" userId="1b7a48f5-3995-4c8d-961e-fa35948adeab" providerId="ADAL" clId="{CDF1851B-486B-40D5-A909-0A3CDE315CBF}" dt="2026-09-09T03:47:41.975" v="106" actId="20577"/>
          <ac:graphicFrameMkLst>
            <pc:docMk/>
            <pc:sldMk cId="3026245705" sldId="1085"/>
            <ac:graphicFrameMk id="6" creationId="{38C11508-3D58-0D07-4EBA-59F27BCDF2B1}"/>
          </ac:graphicFrameMkLst>
        </pc:graphicFrameChg>
      </pc:sldChg>
    </pc:docChg>
  </pc:docChgLst>
  <pc:docChgLst>
    <pc:chgData name="Yan Han WONG" userId="f39f675c-0c0c-419a-bfc0-89173dce6c4b" providerId="ADAL" clId="{254195CD-A7B3-4940-87E5-245295E99F6D}"/>
    <pc:docChg chg="undo redo custSel modSld">
      <pc:chgData name="Yan Han WONG" userId="f39f675c-0c0c-419a-bfc0-89173dce6c4b" providerId="ADAL" clId="{254195CD-A7B3-4940-87E5-245295E99F6D}" dt="2026-09-13T04:59:00.974" v="894" actId="1076"/>
      <pc:docMkLst>
        <pc:docMk/>
      </pc:docMkLst>
      <pc:sldChg chg="modSp mod">
        <pc:chgData name="Yan Han WONG" userId="f39f675c-0c0c-419a-bfc0-89173dce6c4b" providerId="ADAL" clId="{254195CD-A7B3-4940-87E5-245295E99F6D}" dt="2026-09-11T12:16:51.945" v="892" actId="207"/>
        <pc:sldMkLst>
          <pc:docMk/>
          <pc:sldMk cId="51606423" sldId="259"/>
        </pc:sldMkLst>
        <pc:spChg chg="mod">
          <ac:chgData name="Yan Han WONG" userId="f39f675c-0c0c-419a-bfc0-89173dce6c4b" providerId="ADAL" clId="{254195CD-A7B3-4940-87E5-245295E99F6D}" dt="2026-09-08T13:52:34.687" v="268" actId="20577"/>
          <ac:spMkLst>
            <pc:docMk/>
            <pc:sldMk cId="51606423" sldId="259"/>
            <ac:spMk id="2" creationId="{17514F05-83B5-1F16-91DC-54D25F9D623C}"/>
          </ac:spMkLst>
        </pc:spChg>
        <pc:spChg chg="mod">
          <ac:chgData name="Yan Han WONG" userId="f39f675c-0c0c-419a-bfc0-89173dce6c4b" providerId="ADAL" clId="{254195CD-A7B3-4940-87E5-245295E99F6D}" dt="2026-09-11T12:16:51.945" v="892" actId="207"/>
          <ac:spMkLst>
            <pc:docMk/>
            <pc:sldMk cId="51606423" sldId="259"/>
            <ac:spMk id="3" creationId="{E1AB57A4-FBEB-6DA0-25D8-6AD5E6F5E14F}"/>
          </ac:spMkLst>
        </pc:spChg>
      </pc:sldChg>
      <pc:sldChg chg="addSp modSp mod">
        <pc:chgData name="Yan Han WONG" userId="f39f675c-0c0c-419a-bfc0-89173dce6c4b" providerId="ADAL" clId="{254195CD-A7B3-4940-87E5-245295E99F6D}" dt="2026-09-08T13:32:36.334" v="52" actId="20577"/>
        <pc:sldMkLst>
          <pc:docMk/>
          <pc:sldMk cId="3869781376" sldId="1084"/>
        </pc:sldMkLst>
        <pc:spChg chg="mod">
          <ac:chgData name="Yan Han WONG" userId="f39f675c-0c0c-419a-bfc0-89173dce6c4b" providerId="ADAL" clId="{254195CD-A7B3-4940-87E5-245295E99F6D}" dt="2026-09-08T13:31:08.803" v="29" actId="14100"/>
          <ac:spMkLst>
            <pc:docMk/>
            <pc:sldMk cId="3869781376" sldId="1084"/>
            <ac:spMk id="3" creationId="{8D85B56E-4C76-CF70-53A9-BF29CCE82A06}"/>
          </ac:spMkLst>
        </pc:spChg>
        <pc:spChg chg="mod">
          <ac:chgData name="Yan Han WONG" userId="f39f675c-0c0c-419a-bfc0-89173dce6c4b" providerId="ADAL" clId="{254195CD-A7B3-4940-87E5-245295E99F6D}" dt="2026-09-08T13:30:51.738" v="27" actId="20577"/>
          <ac:spMkLst>
            <pc:docMk/>
            <pc:sldMk cId="3869781376" sldId="1084"/>
            <ac:spMk id="5" creationId="{0F0D744A-4398-0634-F882-EFEEDDEAFEF4}"/>
          </ac:spMkLst>
        </pc:spChg>
        <pc:spChg chg="mod">
          <ac:chgData name="Yan Han WONG" userId="f39f675c-0c0c-419a-bfc0-89173dce6c4b" providerId="ADAL" clId="{254195CD-A7B3-4940-87E5-245295E99F6D}" dt="2026-09-08T13:32:36.334" v="52" actId="20577"/>
          <ac:spMkLst>
            <pc:docMk/>
            <pc:sldMk cId="3869781376" sldId="1084"/>
            <ac:spMk id="10" creationId="{CE32FE8C-D022-8A30-1403-15B3600881B6}"/>
          </ac:spMkLst>
        </pc:spChg>
      </pc:sldChg>
      <pc:sldChg chg="modSp mod">
        <pc:chgData name="Yan Han WONG" userId="f39f675c-0c0c-419a-bfc0-89173dce6c4b" providerId="ADAL" clId="{254195CD-A7B3-4940-87E5-245295E99F6D}" dt="2026-09-11T12:14:09.772" v="891" actId="20577"/>
        <pc:sldMkLst>
          <pc:docMk/>
          <pc:sldMk cId="3026245705" sldId="1085"/>
        </pc:sldMkLst>
        <pc:spChg chg="mod">
          <ac:chgData name="Yan Han WONG" userId="f39f675c-0c0c-419a-bfc0-89173dce6c4b" providerId="ADAL" clId="{254195CD-A7B3-4940-87E5-245295E99F6D}" dt="2026-09-08T13:44:08.941" v="91" actId="20577"/>
          <ac:spMkLst>
            <pc:docMk/>
            <pc:sldMk cId="3026245705" sldId="1085"/>
            <ac:spMk id="2" creationId="{22AB4B8A-2200-257C-BEB1-5F8B8596CEBE}"/>
          </ac:spMkLst>
        </pc:spChg>
        <pc:graphicFrameChg chg="mod modGraphic">
          <ac:chgData name="Yan Han WONG" userId="f39f675c-0c0c-419a-bfc0-89173dce6c4b" providerId="ADAL" clId="{254195CD-A7B3-4940-87E5-245295E99F6D}" dt="2026-09-11T12:14:09.772" v="891" actId="20577"/>
          <ac:graphicFrameMkLst>
            <pc:docMk/>
            <pc:sldMk cId="3026245705" sldId="1085"/>
            <ac:graphicFrameMk id="6" creationId="{38C11508-3D58-0D07-4EBA-59F27BCDF2B1}"/>
          </ac:graphicFrameMkLst>
        </pc:graphicFrameChg>
      </pc:sldChg>
      <pc:sldChg chg="modSp mod">
        <pc:chgData name="Yan Han WONG" userId="f39f675c-0c0c-419a-bfc0-89173dce6c4b" providerId="ADAL" clId="{254195CD-A7B3-4940-87E5-245295E99F6D}" dt="2026-09-13T04:59:00.974" v="894" actId="1076"/>
        <pc:sldMkLst>
          <pc:docMk/>
          <pc:sldMk cId="1656399167" sldId="1086"/>
        </pc:sldMkLst>
        <pc:spChg chg="mod">
          <ac:chgData name="Yan Han WONG" userId="f39f675c-0c0c-419a-bfc0-89173dce6c4b" providerId="ADAL" clId="{254195CD-A7B3-4940-87E5-245295E99F6D}" dt="2026-09-13T04:59:00.974" v="894" actId="1076"/>
          <ac:spMkLst>
            <pc:docMk/>
            <pc:sldMk cId="1656399167" sldId="1086"/>
            <ac:spMk id="5" creationId="{FB5FC086-DC23-0A2D-D734-6A13AD167F8F}"/>
          </ac:spMkLst>
        </pc:spChg>
        <pc:spChg chg="mod">
          <ac:chgData name="Yan Han WONG" userId="f39f675c-0c0c-419a-bfc0-89173dce6c4b" providerId="ADAL" clId="{254195CD-A7B3-4940-87E5-245295E99F6D}" dt="2026-09-09T07:58:14.564" v="872" actId="1076"/>
          <ac:spMkLst>
            <pc:docMk/>
            <pc:sldMk cId="1656399167" sldId="1086"/>
            <ac:spMk id="8" creationId="{3A5DDE4F-D94E-B8C6-E605-5C267094C014}"/>
          </ac:spMkLst>
        </pc:spChg>
        <pc:spChg chg="mod">
          <ac:chgData name="Yan Han WONG" userId="f39f675c-0c0c-419a-bfc0-89173dce6c4b" providerId="ADAL" clId="{254195CD-A7B3-4940-87E5-245295E99F6D}" dt="2026-09-09T07:58:16.411" v="873" actId="1076"/>
          <ac:spMkLst>
            <pc:docMk/>
            <pc:sldMk cId="1656399167" sldId="1086"/>
            <ac:spMk id="10" creationId="{823AADC2-02DF-5232-0846-07C788148F2E}"/>
          </ac:spMkLst>
        </pc:spChg>
        <pc:graphicFrameChg chg="mod modGraphic">
          <ac:chgData name="Yan Han WONG" userId="f39f675c-0c0c-419a-bfc0-89173dce6c4b" providerId="ADAL" clId="{254195CD-A7B3-4940-87E5-245295E99F6D}" dt="2026-09-13T04:58:55.149" v="893" actId="14734"/>
          <ac:graphicFrameMkLst>
            <pc:docMk/>
            <pc:sldMk cId="1656399167" sldId="1086"/>
            <ac:graphicFrameMk id="6" creationId="{C60E3D03-6825-6370-C382-5C75BEA7182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7E11E6-8150-AF44-AFE7-DF986568B2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99326-1140-9949-874B-CD046F304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A953B-9909-7344-830D-F654C8372957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CB73C-BF19-5C49-9411-5E8924F194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62293-26BF-CA45-A807-782718E6AF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848B1-B0DD-424F-802B-05423415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53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2CC0F-9473-0047-886D-57B7E191AF4C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D582C-B91B-2B4F-BB3D-6012B562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3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89EEF8-F59E-404A-ADC6-4CDB12047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A94B2B-C868-468D-91DC-8F17D0A5F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5458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9D304B-F131-D04E-9BB2-C234FACC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CE54F5-4EC8-495D-B871-5FDD7F476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77191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9EECD76-5546-394C-A08F-DB8E115F00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8929" y="3382499"/>
            <a:ext cx="7152861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2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83BEE6D-49FB-440F-98D5-CB1C44202049}"/>
              </a:ext>
            </a:extLst>
          </p:cNvPr>
          <p:cNvGrpSpPr/>
          <p:nvPr userDrawn="1"/>
        </p:nvGrpSpPr>
        <p:grpSpPr>
          <a:xfrm>
            <a:off x="5557919" y="4760536"/>
            <a:ext cx="5618375" cy="1980506"/>
            <a:chOff x="5557919" y="4760536"/>
            <a:chExt cx="5618375" cy="198050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20B6F8-8E52-F940-BA78-A0A2B78F1B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2480" t="77968" r="-4719" b="9263"/>
            <a:stretch/>
          </p:blipFill>
          <p:spPr>
            <a:xfrm>
              <a:off x="5557919" y="4760536"/>
              <a:ext cx="5618375" cy="198050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37A5EF-1CCA-4630-996C-77608B56F8B3}"/>
                </a:ext>
              </a:extLst>
            </p:cNvPr>
            <p:cNvSpPr/>
            <p:nvPr userDrawn="1"/>
          </p:nvSpPr>
          <p:spPr>
            <a:xfrm>
              <a:off x="6748272" y="4837176"/>
              <a:ext cx="4361688" cy="9966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6B6C16E-6CB1-4D84-B65E-7BE162FA3C7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953175" y="404813"/>
            <a:ext cx="4833937" cy="519747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787306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A52323EE-F917-4344-990B-84E13A1D88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52438"/>
            <a:ext cx="4316412" cy="427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2EAF4550-BE04-4D85-8140-CAEE531D60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22938" y="4722813"/>
            <a:ext cx="2152650" cy="1722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3916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301E3A-AEBD-1049-9450-8220EE1A2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84569" r="1" b="10595"/>
          <a:stretch/>
        </p:blipFill>
        <p:spPr>
          <a:xfrm>
            <a:off x="6358878" y="5784573"/>
            <a:ext cx="5405523" cy="7500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0B0078-646E-0A42-AFBD-3E03F49122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021D86-4D96-E542-A7AA-52E138A56A16}"/>
              </a:ext>
            </a:extLst>
          </p:cNvPr>
          <p:cNvSpPr txBox="1"/>
          <p:nvPr/>
        </p:nvSpPr>
        <p:spPr>
          <a:xfrm>
            <a:off x="427599" y="2792273"/>
            <a:ext cx="459280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respectfully acknowledge the </a:t>
            </a:r>
            <a:r>
              <a:rPr lang="en-GB" sz="1000" b="0" i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People of the Kulin Nation, who are the Traditional Owners of the land on which Swinburne’s Australian campuses are located in Melbourne’s east and outer-east, and pay our respect to their Elders past, present and emerging.</a:t>
            </a:r>
          </a:p>
          <a:p>
            <a:endParaRPr lang="en-GB" sz="1000" b="0" i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are honoured to recognise our connection to </a:t>
            </a:r>
            <a:r>
              <a:rPr lang="en-GB" sz="1000" b="0" i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Country, history, culture, and spirituality through these locations, and strive to ensure that we operate in a manner that respects and honours the Elders and Ancestors of these lands.</a:t>
            </a:r>
          </a:p>
          <a:p>
            <a:endParaRPr lang="en-GB" sz="1000" b="0" i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respectfully acknowledge Swinburne’s Aboriginal and Torres Strait Islander staff, students, alumni, partners and visitors.</a:t>
            </a:r>
          </a:p>
          <a:p>
            <a:endParaRPr lang="en-GB" sz="1000" b="0" i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acknowledge and respect the Traditional Owners of lands across Australia, their Elders, Ancestors, cultures, and heritage, and recognise the continuing sovereignties of all Aboriginal and Torres Strait Islander Nations.</a:t>
            </a:r>
          </a:p>
          <a:p>
            <a:endParaRPr lang="en-US" sz="1000" b="0" i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F0F09-72F3-3441-9402-E373F8E5EB3F}"/>
              </a:ext>
            </a:extLst>
          </p:cNvPr>
          <p:cNvSpPr txBox="1"/>
          <p:nvPr/>
        </p:nvSpPr>
        <p:spPr>
          <a:xfrm>
            <a:off x="434508" y="1858410"/>
            <a:ext cx="566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>
                <a:latin typeface="Barlow Light" pitchFamily="2" charset="77"/>
                <a:ea typeface="DIN 2014 Light" panose="020B0404020202020204" pitchFamily="34" charset="77"/>
              </a:rPr>
              <a:t>Acknowledgement of Country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067CD-E520-DC4D-B83A-C56E5FCC54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21" t="28383" r="14498" b="18249"/>
          <a:stretch/>
        </p:blipFill>
        <p:spPr>
          <a:xfrm>
            <a:off x="7434470" y="404038"/>
            <a:ext cx="4757530" cy="5198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35ED88-E76B-A544-B183-904F87143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79189" r="57973" b="15495"/>
          <a:stretch/>
        </p:blipFill>
        <p:spPr>
          <a:xfrm>
            <a:off x="6358878" y="4950069"/>
            <a:ext cx="896687" cy="82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6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4"/>
            <a:ext cx="54139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section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0FB895-CEDF-407A-8EBB-D14839C388BA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1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body copy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1AB50-6DF5-0046-88B5-CCF309E40D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9D4BD1-E32E-4B45-9EE2-0025BDBB56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6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slide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2117D9-7D31-CF43-ADFD-F98B62BD99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481" r="2" b="14827"/>
          <a:stretch/>
        </p:blipFill>
        <p:spPr>
          <a:xfrm>
            <a:off x="7683335" y="4840357"/>
            <a:ext cx="4081066" cy="103793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86E4EA-34C8-E244-8CAB-C02FEF4020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6904799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AE31527-290E-A24C-AA95-FA74345F0F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body copy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259A720-FEE8-5141-B4A1-A0D410B4C3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690479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98469BC-0212-0841-B9E2-4583B2ABE9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4CD2C42-FE07-4F3E-B6EF-9DF80CF9FE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49263"/>
            <a:ext cx="4316412" cy="4273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88525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FA5ACD-3A97-B149-B36C-5AA41525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9226" t="68124" r="-962" b="10595"/>
          <a:stretch/>
        </p:blipFill>
        <p:spPr>
          <a:xfrm>
            <a:off x="10260622" y="211344"/>
            <a:ext cx="1690585" cy="330075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E6306D7-3A2F-F940-9F7B-15EB392CAB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DCA242E-7F41-D547-A34B-ECAD02B740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You may add some body text to explain your table.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E5544B2-7476-044A-821A-71516FF0BD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BA71D75-C832-624C-ADF5-2477EC2446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E0CB9A1-AA5A-1F45-81B8-6B21FDF845C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30281" y="3039762"/>
            <a:ext cx="9687754" cy="2309386"/>
          </a:xfrm>
          <a:prstGeom prst="rect">
            <a:avLst/>
          </a:prstGeom>
          <a:noFill/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50941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55804"/>
            <a:ext cx="6089790" cy="92333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Swinburne life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85430"/>
            <a:ext cx="6089790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It’s what you make it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748813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Sam Sample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4076805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23 April,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84250" r="-4719" b="9263"/>
          <a:stretch/>
        </p:blipFill>
        <p:spPr>
          <a:xfrm>
            <a:off x="5557919" y="5734878"/>
            <a:ext cx="5618375" cy="1006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59" t="13219" r="23662" b="-264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A8A8EC-9FB9-444F-A69E-63E5196ED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52977" b="15545"/>
          <a:stretch/>
        </p:blipFill>
        <p:spPr>
          <a:xfrm>
            <a:off x="5557920" y="4760536"/>
            <a:ext cx="1131116" cy="100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40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-4719" b="9263"/>
          <a:stretch/>
        </p:blipFill>
        <p:spPr>
          <a:xfrm>
            <a:off x="5557919" y="4760536"/>
            <a:ext cx="5618375" cy="1980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6846" t="13787" r="21181" b="2382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40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56A9A7-BA5D-8F4F-87A5-52E81EF79B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71" t="4838" r="27910"/>
          <a:stretch/>
        </p:blipFill>
        <p:spPr>
          <a:xfrm>
            <a:off x="7876014" y="452487"/>
            <a:ext cx="4315985" cy="42703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A55381-D824-1843-9E81-B6C7DD2761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33" r="5833"/>
          <a:stretch/>
        </p:blipFill>
        <p:spPr>
          <a:xfrm>
            <a:off x="5722463" y="4722829"/>
            <a:ext cx="2153551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20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76717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Facilities </a:t>
            </a:r>
            <a:br>
              <a:rPr lang="en-US"/>
            </a:br>
            <a:r>
              <a:rPr lang="en-US"/>
              <a:t>and services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3D571E-6C6A-4798-9A60-604AE949FEB4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4" cy="107721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Swinburne empowers you to </a:t>
            </a:r>
            <a:br>
              <a:rPr lang="en-US"/>
            </a:br>
            <a:r>
              <a:rPr lang="en-US"/>
              <a:t>make the most of your experience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11E3A5E-99C3-A248-9BD6-51A7C5B92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832144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Swinburne has a wide range of facilities and support services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F6AA28-ECBB-4880-813D-2B3B6BEC86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FCFC9AE-857A-4CF3-B511-2C7E86276E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416969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1815903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7152861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Safety on campus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96A50B-0CED-5E4D-BA45-B1ED01FB7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866" r="2" b="14827"/>
          <a:stretch/>
        </p:blipFill>
        <p:spPr>
          <a:xfrm>
            <a:off x="7683335" y="4899991"/>
            <a:ext cx="4081066" cy="978296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A92E0E6-1027-8048-A325-503E10C0E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7152861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Swinburne takes safety and security very seriously.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29465B6-EAD9-4F8E-A664-BA0A0BD52F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2D844A4-A477-478A-B06A-5DDB45441E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9966" t="12338" r="26401" b="3540"/>
          <a:stretch/>
        </p:blipFill>
        <p:spPr>
          <a:xfrm>
            <a:off x="7876015" y="449927"/>
            <a:ext cx="4315985" cy="4270342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E117F348-3FC8-42E6-B117-DD3752D149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3794482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mple_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10681668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How a table slide can appear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79" y="2247150"/>
            <a:ext cx="1068166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You may add some body text to explain your table.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10E51DE-39B6-CC4B-BA98-3ABC1461CE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1068166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These can be useful for displaying statistics and timelines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963C177-FD25-4F8F-B236-438FB53165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68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3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29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87" r:id="rId4"/>
    <p:sldLayoutId id="2147483688" r:id="rId5"/>
    <p:sldLayoutId id="2147483673" r:id="rId6"/>
    <p:sldLayoutId id="2147483674" r:id="rId7"/>
    <p:sldLayoutId id="2147483675" r:id="rId8"/>
    <p:sldLayoutId id="2147483689" r:id="rId9"/>
    <p:sldLayoutId id="2147483677" r:id="rId10"/>
    <p:sldLayoutId id="2147483680" r:id="rId11"/>
    <p:sldLayoutId id="2147483671" r:id="rId12"/>
    <p:sldLayoutId id="2147483672" r:id="rId13"/>
    <p:sldLayoutId id="2147483681" r:id="rId14"/>
    <p:sldLayoutId id="2147483682" r:id="rId15"/>
    <p:sldLayoutId id="2147483683" r:id="rId16"/>
    <p:sldLayoutId id="2147483685" r:id="rId17"/>
    <p:sldLayoutId id="214748367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24A5-3D23-8BBA-6CB3-CD6AEA7F8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313" y="1567875"/>
            <a:ext cx="7152861" cy="865622"/>
          </a:xfrm>
        </p:spPr>
        <p:txBody>
          <a:bodyPr/>
          <a:lstStyle/>
          <a:p>
            <a:r>
              <a:rPr lang="en-AU"/>
              <a:t>Weekly Status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5B56E-4C76-CF70-53A9-BF29CCE82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929" y="2910686"/>
            <a:ext cx="8177421" cy="812851"/>
          </a:xfrm>
        </p:spPr>
        <p:txBody>
          <a:bodyPr/>
          <a:lstStyle/>
          <a:p>
            <a:r>
              <a:rPr lang="en-MY"/>
              <a:t>Intrusion Detection System (IDS) for Campus Networks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D744A-4398-0634-F882-EFEEDDEAFE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929" y="2451350"/>
            <a:ext cx="3774371" cy="459336"/>
          </a:xfrm>
        </p:spPr>
        <p:txBody>
          <a:bodyPr>
            <a:normAutofit/>
          </a:bodyPr>
          <a:lstStyle/>
          <a:p>
            <a:r>
              <a:rPr lang="en-AU" sz="2000"/>
              <a:t>Week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2FE8C-D022-8A30-1403-15B3600881B6}"/>
              </a:ext>
            </a:extLst>
          </p:cNvPr>
          <p:cNvSpPr txBox="1"/>
          <p:nvPr/>
        </p:nvSpPr>
        <p:spPr>
          <a:xfrm>
            <a:off x="656299" y="4326193"/>
            <a:ext cx="4311804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MY"/>
              <a:t>Members: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/>
              <a:t>Jane Yan Zhen YU	</a:t>
            </a:r>
            <a:r>
              <a:rPr lang="en-US"/>
              <a:t>104395810</a:t>
            </a:r>
            <a:endParaRPr lang="en-MY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/>
              <a:t>Yan Han WONG	104392138</a:t>
            </a:r>
            <a:endParaRPr lang="en-MY">
              <a:ea typeface="Open Sans Light"/>
              <a:cs typeface="Open Sans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>
                <a:ea typeface="Open Sans Light"/>
                <a:cs typeface="Open Sans Light"/>
              </a:rPr>
              <a:t>Bruce Gee Yick WONG   104401843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>
                <a:ea typeface="Open Sans Light"/>
                <a:cs typeface="Open Sans Light"/>
              </a:rPr>
              <a:t>Neville Zi Yang		104400992</a:t>
            </a:r>
          </a:p>
        </p:txBody>
      </p:sp>
    </p:spTree>
    <p:extLst>
      <p:ext uri="{BB962C8B-B14F-4D97-AF65-F5344CB8AC3E}">
        <p14:creationId xmlns:p14="http://schemas.microsoft.com/office/powerpoint/2010/main" val="386978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4B8A-2200-257C-BEB1-5F8B8596C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043" y="78735"/>
            <a:ext cx="9687755" cy="584775"/>
          </a:xfrm>
        </p:spPr>
        <p:txBody>
          <a:bodyPr/>
          <a:lstStyle/>
          <a:p>
            <a:r>
              <a:rPr lang="en-AU"/>
              <a:t>Work Log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05047-E32A-E5DE-2232-C8207F316F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C11508-3D58-0D07-4EBA-59F27BCDF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895469"/>
              </p:ext>
            </p:extLst>
          </p:nvPr>
        </p:nvGraphicFramePr>
        <p:xfrm>
          <a:off x="542043" y="963765"/>
          <a:ext cx="9978085" cy="3920400"/>
        </p:xfrm>
        <a:graphic>
          <a:graphicData uri="http://schemas.openxmlformats.org/drawingml/2006/table">
            <a:tbl>
              <a:tblPr firstRow="1" firstCol="1" bandRow="1"/>
              <a:tblGrid>
                <a:gridCol w="2639306">
                  <a:extLst>
                    <a:ext uri="{9D8B030D-6E8A-4147-A177-3AD203B41FA5}">
                      <a16:colId xmlns:a16="http://schemas.microsoft.com/office/drawing/2014/main" val="1470167941"/>
                    </a:ext>
                  </a:extLst>
                </a:gridCol>
                <a:gridCol w="1924805">
                  <a:extLst>
                    <a:ext uri="{9D8B030D-6E8A-4147-A177-3AD203B41FA5}">
                      <a16:colId xmlns:a16="http://schemas.microsoft.com/office/drawing/2014/main" val="1091767670"/>
                    </a:ext>
                  </a:extLst>
                </a:gridCol>
                <a:gridCol w="977775">
                  <a:extLst>
                    <a:ext uri="{9D8B030D-6E8A-4147-A177-3AD203B41FA5}">
                      <a16:colId xmlns:a16="http://schemas.microsoft.com/office/drawing/2014/main" val="1258454611"/>
                    </a:ext>
                  </a:extLst>
                </a:gridCol>
                <a:gridCol w="2526671">
                  <a:extLst>
                    <a:ext uri="{9D8B030D-6E8A-4147-A177-3AD203B41FA5}">
                      <a16:colId xmlns:a16="http://schemas.microsoft.com/office/drawing/2014/main" val="2206643225"/>
                    </a:ext>
                  </a:extLst>
                </a:gridCol>
                <a:gridCol w="1909528">
                  <a:extLst>
                    <a:ext uri="{9D8B030D-6E8A-4147-A177-3AD203B41FA5}">
                      <a16:colId xmlns:a16="http://schemas.microsoft.com/office/drawing/2014/main" val="384207763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TASKS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ASSIGNED T0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STATUS NOTES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81195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Brainstorm Relevant Keywords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Everyone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 Track</a:t>
                      </a:r>
                      <a:endParaRPr lang="en-AU" sz="10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Think about main concepts, terms, or phrases related to your research topic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Consider synonyms, related terms, acronyms, and variations</a:t>
                      </a:r>
                      <a:endParaRPr lang="en-AU" sz="10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0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Defined core concepts and compiled a comprehensive list of keywords and synonyms for the research topic. </a:t>
                      </a:r>
                      <a:endParaRPr lang="en-AU" sz="1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0060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Conduct Preliminary Searches</a:t>
                      </a:r>
                      <a:endParaRPr lang="en-AU" sz="10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Everyone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 Track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0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Identify Knowledge sources that can be used to supplement your project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0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Identified some online databases and academic platforms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3407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Utilize Subject-Specific Databases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Everyone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 Track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0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Skim through the online databases that you have identified that relate to your project and access to high-quality, peer-reviewed articles.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Everyone collects five academic sources.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0204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Utilize Subject-Specific Academic Platforms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Bruce</a:t>
                      </a:r>
                      <a:endParaRPr lang="en-AU" sz="1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0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r>
                        <a:rPr lang="en-AU" sz="14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AU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Track</a:t>
                      </a:r>
                      <a:endParaRPr lang="en-AU" sz="10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Choose an Academic Platform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0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Selected IEEE Xplore as the primary academic platforms for literature retrieval. </a:t>
                      </a:r>
                      <a:endParaRPr lang="en-AU" sz="1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4402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Utilizing Technical Platforms for Implementationand Project Management</a:t>
                      </a:r>
                      <a:endParaRPr lang="en-AU" sz="10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YanHan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r>
                        <a:rPr lang="en-AU" sz="14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AU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Track</a:t>
                      </a:r>
                      <a:endParaRPr lang="en-AU" sz="10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Choosing the Right Platform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Choose GitHub For version control, collaboration, and managing technical documentation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600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 SPENT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MY" sz="1000" b="1">
                          <a:solidFill>
                            <a:schemeClr val="tx1"/>
                          </a:solidFill>
                        </a:rPr>
                        <a:t>1 hours</a:t>
                      </a:r>
                      <a:endParaRPr lang="en-AU" sz="1000" b="1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/>
                        <a:t>    </a:t>
                      </a:r>
                      <a:endParaRPr lang="en-MY"/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05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245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F015-33C6-E8DA-F5A0-ECC8FDD4D5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Plan and Reflection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FC086-DC23-0A2D-D734-6A13AD167F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950" y="6978096"/>
            <a:ext cx="5049837" cy="249237"/>
          </a:xfrm>
        </p:spPr>
        <p:txBody>
          <a:bodyPr/>
          <a:lstStyle/>
          <a:p>
            <a:endParaRPr lang="en-A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0E3D03-6825-6370-C382-5C75BEA71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095185"/>
              </p:ext>
            </p:extLst>
          </p:nvPr>
        </p:nvGraphicFramePr>
        <p:xfrm>
          <a:off x="589806" y="1191827"/>
          <a:ext cx="7730327" cy="2727452"/>
        </p:xfrm>
        <a:graphic>
          <a:graphicData uri="http://schemas.openxmlformats.org/drawingml/2006/table">
            <a:tbl>
              <a:tblPr firstRow="1" firstCol="1" bandRow="1"/>
              <a:tblGrid>
                <a:gridCol w="4226549">
                  <a:extLst>
                    <a:ext uri="{9D8B030D-6E8A-4147-A177-3AD203B41FA5}">
                      <a16:colId xmlns:a16="http://schemas.microsoft.com/office/drawing/2014/main" val="3775577976"/>
                    </a:ext>
                  </a:extLst>
                </a:gridCol>
                <a:gridCol w="1751889">
                  <a:extLst>
                    <a:ext uri="{9D8B030D-6E8A-4147-A177-3AD203B41FA5}">
                      <a16:colId xmlns:a16="http://schemas.microsoft.com/office/drawing/2014/main" val="1812477094"/>
                    </a:ext>
                  </a:extLst>
                </a:gridCol>
                <a:gridCol w="1751889">
                  <a:extLst>
                    <a:ext uri="{9D8B030D-6E8A-4147-A177-3AD203B41FA5}">
                      <a16:colId xmlns:a16="http://schemas.microsoft.com/office/drawing/2014/main" val="1036796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TASKS PLANNED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COMPLETION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ASSIGNED TO</a:t>
                      </a:r>
                      <a:endParaRPr kumimoji="0" lang="en-AU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Brainstorm Relevant Keywords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100" b="1">
                          <a:solidFill>
                            <a:schemeClr val="tx1"/>
                          </a:solidFill>
                          <a:effectLst/>
                          <a:latin typeface="Ebrima" panose="020000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MY" sz="1100" b="1">
                          <a:solidFill>
                            <a:schemeClr val="tx1"/>
                          </a:solidFill>
                        </a:rPr>
                        <a:t>Week 3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Everyone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564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Conduct Preliminary Searches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100" b="1">
                          <a:solidFill>
                            <a:schemeClr val="tx1"/>
                          </a:solidFill>
                          <a:effectLst/>
                          <a:latin typeface="Ebrima" panose="020000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MY" sz="1100" b="1">
                          <a:solidFill>
                            <a:schemeClr val="tx1"/>
                          </a:solidFill>
                        </a:rPr>
                        <a:t>Week 3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Everyone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268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Utilize Subject-Specific Databases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b="1">
                          <a:solidFill>
                            <a:schemeClr val="tx1"/>
                          </a:solidFill>
                          <a:effectLst/>
                          <a:latin typeface="Ebrima" panose="020000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MY" sz="1100" b="1">
                          <a:solidFill>
                            <a:schemeClr val="tx1"/>
                          </a:solidFill>
                        </a:rPr>
                        <a:t>Week 3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Everyone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491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Utilize Subject-Specific Academic Platforms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b="1">
                          <a:solidFill>
                            <a:schemeClr val="tx1"/>
                          </a:solidFill>
                        </a:rPr>
                        <a:t>Week 3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Bruce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639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Utilizing Technical Platforms for Implementationand Project Management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b="1">
                          <a:solidFill>
                            <a:schemeClr val="tx1"/>
                          </a:solidFill>
                        </a:rPr>
                        <a:t>Week 3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YanHan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45876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A5DDE4F-D94E-B8C6-E605-5C267094C014}"/>
              </a:ext>
            </a:extLst>
          </p:cNvPr>
          <p:cNvSpPr txBox="1"/>
          <p:nvPr/>
        </p:nvSpPr>
        <p:spPr>
          <a:xfrm>
            <a:off x="507950" y="3919279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Summary/weekly reflection for Week 2</a:t>
            </a:r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3AADC2-02DF-5232-0846-07C788148F2E}"/>
              </a:ext>
            </a:extLst>
          </p:cNvPr>
          <p:cNvSpPr txBox="1"/>
          <p:nvPr/>
        </p:nvSpPr>
        <p:spPr>
          <a:xfrm>
            <a:off x="507950" y="4255317"/>
            <a:ext cx="8445549" cy="263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4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-key milestones achieved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MY" sz="1400" i="1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Successfully identified and categorized core project keywords (NIDS, Anomaly Detection, Machine Learning, Flow Analysis) across all group members</a:t>
            </a:r>
            <a:r>
              <a:rPr lang="en-MY" sz="1400"/>
              <a:t>. </a:t>
            </a:r>
            <a:endParaRPr lang="en-AU" sz="1400" i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4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-any interesting things learned</a:t>
            </a:r>
          </a:p>
          <a:p>
            <a:pPr>
              <a:spcAft>
                <a:spcPts val="800"/>
              </a:spcAft>
            </a:pPr>
            <a:r>
              <a:rPr lang="en-MY" sz="1400" i="1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Learned that modern network intrusion detection has shifted from static, rule-based signature matching toward flow-based statistical anomaly detection (e.g., using Isolation Forest). </a:t>
            </a:r>
            <a:endParaRPr lang="en-AU" sz="1400" i="1">
              <a:solidFill>
                <a:srgbClr val="0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AU" sz="14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-Issues/problems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MY" sz="1400" i="1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Search results across databases (IEEE Xplore, Google Scholar) were too broad due to generic keywords (e.g., "IDS", "Machine Learning"). </a:t>
            </a:r>
            <a:endParaRPr lang="en-AU" sz="1400" i="1">
              <a:solidFill>
                <a:srgbClr val="0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39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07A6AA-7CA7-DF4C-9384-59300577B9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514F05-83B5-1F16-91DC-54D25F9D62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8929" y="4114378"/>
            <a:ext cx="3497815" cy="1854622"/>
          </a:xfrm>
        </p:spPr>
        <p:txBody>
          <a:bodyPr/>
          <a:lstStyle/>
          <a:p>
            <a:r>
              <a:rPr lang="en-MY" sz="1600" dirty="0"/>
              <a:t>P</a:t>
            </a:r>
            <a:r>
              <a:rPr lang="en-US" altLang="zh-CN" sz="1600" dirty="0"/>
              <a:t>resented by: </a:t>
            </a:r>
          </a:p>
          <a:p>
            <a:r>
              <a:rPr lang="en-US" altLang="zh-CN" dirty="0"/>
              <a:t>Jane Yan Zhen YU</a:t>
            </a:r>
          </a:p>
          <a:p>
            <a:r>
              <a:rPr lang="en-US" dirty="0"/>
              <a:t>Yan Han WONG</a:t>
            </a:r>
          </a:p>
          <a:p>
            <a:r>
              <a:rPr lang="en-US" dirty="0"/>
              <a:t>Bruce Gee Yick WONG</a:t>
            </a:r>
          </a:p>
          <a:p>
            <a:r>
              <a:rPr lang="en-US" dirty="0"/>
              <a:t>Neville Zi Yang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B57A4-FBEB-6DA0-25D8-6AD5E6F5E1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928" y="5684422"/>
            <a:ext cx="3497815" cy="284578"/>
          </a:xfrm>
        </p:spPr>
        <p:txBody>
          <a:bodyPr/>
          <a:lstStyle/>
          <a:p>
            <a:r>
              <a:rPr lang="en-MY" dirty="0">
                <a:solidFill>
                  <a:schemeClr val="tx1"/>
                </a:solidFill>
              </a:rPr>
              <a:t>Sunday 13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1606423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">
  <a:themeElements>
    <a:clrScheme name="Swinburne">
      <a:dk1>
        <a:srgbClr val="000000"/>
      </a:dk1>
      <a:lt1>
        <a:sysClr val="window" lastClr="FFFFFF"/>
      </a:lt1>
      <a:dk2>
        <a:srgbClr val="3D3A3B"/>
      </a:dk2>
      <a:lt2>
        <a:srgbClr val="E7E7E8"/>
      </a:lt2>
      <a:accent1>
        <a:srgbClr val="3D3A3B"/>
      </a:accent1>
      <a:accent2>
        <a:srgbClr val="E7E7E8"/>
      </a:accent2>
      <a:accent3>
        <a:srgbClr val="A5A5A5"/>
      </a:accent3>
      <a:accent4>
        <a:srgbClr val="BFBFBF"/>
      </a:accent4>
      <a:accent5>
        <a:srgbClr val="D8D8D8"/>
      </a:accent5>
      <a:accent6>
        <a:srgbClr val="F2F2F2"/>
      </a:accent6>
      <a:hlink>
        <a:srgbClr val="0563C1"/>
      </a:hlink>
      <a:folHlink>
        <a:srgbClr val="954F72"/>
      </a:folHlink>
    </a:clrScheme>
    <a:fontScheme name="SwinburneFonts">
      <a:majorFont>
        <a:latin typeface="Barlow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" id="{2F5F439F-722C-4FD2-84ED-4D1CD1AFAB38}" vid="{5462BE9E-DCA2-451B-A3C6-85FCFC9823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A9E6E55628542A9E00D522079AB8A" ma:contentTypeVersion="13" ma:contentTypeDescription="Create a new document." ma:contentTypeScope="" ma:versionID="bc9d5ad7b866290eeea8d0330b62b471">
  <xsd:schema xmlns:xsd="http://www.w3.org/2001/XMLSchema" xmlns:xs="http://www.w3.org/2001/XMLSchema" xmlns:p="http://schemas.microsoft.com/office/2006/metadata/properties" xmlns:ns2="6db94942-8a34-4a30-a8e6-78b89cf29212" xmlns:ns3="32a27114-0f9b-470d-a484-01f5ccaf5a0e" targetNamespace="http://schemas.microsoft.com/office/2006/metadata/properties" ma:root="true" ma:fieldsID="b30f91d08ecb2ef14acd979bef34f993" ns2:_="" ns3:_="">
    <xsd:import namespace="6db94942-8a34-4a30-a8e6-78b89cf29212"/>
    <xsd:import namespace="32a27114-0f9b-470d-a484-01f5ccaf5a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b94942-8a34-4a30-a8e6-78b89cf292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27114-0f9b-470d-a484-01f5ccaf5a0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4B8229-934D-4FDB-94FE-E9083E54BC82}">
  <ds:schemaRefs>
    <ds:schemaRef ds:uri="32a27114-0f9b-470d-a484-01f5ccaf5a0e"/>
    <ds:schemaRef ds:uri="6db94942-8a34-4a30-a8e6-78b89cf2921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84C5A5F-5895-4E78-BACE-B717DFEC29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8B5A9C-D132-4FCF-951F-362122C708F1}">
  <ds:schemaRefs>
    <ds:schemaRef ds:uri="http://purl.org/dc/terms/"/>
    <ds:schemaRef ds:uri="http://www.w3.org/XML/1998/namespace"/>
    <ds:schemaRef ds:uri="32a27114-0f9b-470d-a484-01f5ccaf5a0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6db94942-8a34-4a30-a8e6-78b89cf29212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b63ccca9-c1ef-42e5-8b5f-ba262db88ee1}" enabled="1" method="Standard" siteId="{3f639a9b-27c8-4403-82b1-ebfb88052d1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Swinburne</Template>
  <TotalTime>4</TotalTime>
  <Words>381</Words>
  <Application>Microsoft Office PowerPoint</Application>
  <PresentationFormat>Widescreen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Calibri</vt:lpstr>
      <vt:lpstr>Ebrima</vt:lpstr>
      <vt:lpstr>Open Sans Light</vt:lpstr>
      <vt:lpstr>Open Sans Semibold</vt:lpstr>
      <vt:lpstr>Barlow Light</vt:lpstr>
      <vt:lpstr>Arial</vt:lpstr>
      <vt:lpstr>Barlow SemiBold</vt:lpstr>
      <vt:lpstr>Swinburne</vt:lpstr>
      <vt:lpstr>Weekly Status Report</vt:lpstr>
      <vt:lpstr>Work Log</vt:lpstr>
      <vt:lpstr>Plan and Reflection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Elliot Walsh</dc:creator>
  <cp:lastModifiedBy>Jane Yan Zhen YU</cp:lastModifiedBy>
  <cp:revision>1</cp:revision>
  <dcterms:created xsi:type="dcterms:W3CDTF">2021-04-21T06:12:21Z</dcterms:created>
  <dcterms:modified xsi:type="dcterms:W3CDTF">2026-09-13T06:32:36Z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0x010100144A9E6E55628542A9E00D522079AB8A</vt:lpwstr>
  </property>
  <property fmtid="{D5CDD505-2E9C-101B-9397-08002B2CF9AE}" pid="3" name="MSIP_Label_b63ccca9-c1ef-42e5-8b5f-ba262db88ee1_Enabled">
    <vt:lpwstr>true</vt:lpwstr>
  </property>
  <property fmtid="{D5CDD505-2E9C-101B-9397-08002B2CF9AE}" pid="4" name="MSIP_Label_b63ccca9-c1ef-42e5-8b5f-ba262db88ee1_SetDate">
    <vt:lpwstr>2024-09-01T06:38:26Z</vt:lpwstr>
  </property>
  <property fmtid="{D5CDD505-2E9C-101B-9397-08002B2CF9AE}" pid="5" name="MSIP_Label_b63ccca9-c1ef-42e5-8b5f-ba262db88ee1_Method">
    <vt:lpwstr>Standard</vt:lpwstr>
  </property>
  <property fmtid="{D5CDD505-2E9C-101B-9397-08002B2CF9AE}" pid="6" name="MSIP_Label_b63ccca9-c1ef-42e5-8b5f-ba262db88ee1_Name">
    <vt:lpwstr>Public</vt:lpwstr>
  </property>
  <property fmtid="{D5CDD505-2E9C-101B-9397-08002B2CF9AE}" pid="7" name="MSIP_Label_b63ccca9-c1ef-42e5-8b5f-ba262db88ee1_SiteId">
    <vt:lpwstr>3f639a9b-27c8-4403-82b1-ebfb88052d15</vt:lpwstr>
  </property>
  <property fmtid="{D5CDD505-2E9C-101B-9397-08002B2CF9AE}" pid="8" name="MSIP_Label_b63ccca9-c1ef-42e5-8b5f-ba262db88ee1_ActionId">
    <vt:lpwstr>6db55b0e-04b6-4663-9640-656829f69fcb</vt:lpwstr>
  </property>
  <property fmtid="{D5CDD505-2E9C-101B-9397-08002B2CF9AE}" pid="9" name="MSIP_Label_b63ccca9-c1ef-42e5-8b5f-ba262db88ee1_ContentBits">
    <vt:lpwstr>0</vt:lpwstr>
  </property>
</Properties>
</file>